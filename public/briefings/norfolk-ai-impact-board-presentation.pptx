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63" d="100"/>
          <a:sy n="163" d="100"/>
        </p:scale>
        <p:origin x="184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51966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D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user-data/uploads/Gemini_Generated_Image_g961v7g961v7g96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474720" y="0"/>
            <a:ext cx="566928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474720" y="0"/>
            <a:ext cx="1828800" cy="5143500"/>
          </a:xfrm>
          <a:prstGeom prst="rect">
            <a:avLst/>
          </a:prstGeom>
          <a:solidFill>
            <a:srgbClr val="0F2D2D">
              <a:alpha val="7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3840480" cy="5143500"/>
          </a:xfrm>
          <a:prstGeom prst="rect">
            <a:avLst/>
          </a:prstGeom>
          <a:solidFill>
            <a:srgbClr val="0F2D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640080" y="914400"/>
            <a:ext cx="64008" cy="2377440"/>
          </a:xfrm>
          <a:prstGeom prst="rect">
            <a:avLst/>
          </a:prstGeom>
          <a:solidFill>
            <a:srgbClr val="B865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914400" y="91440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Case</a:t>
            </a:r>
            <a:endParaRPr lang="en-US" sz="3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an AI</a:t>
            </a:r>
            <a:endParaRPr lang="en-US" sz="3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Impact Board</a:t>
            </a:r>
            <a:endParaRPr lang="en-US" sz="3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Norfolk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914400" y="35204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i="1" dirty="0">
                <a:solidFill>
                  <a:srgbClr val="8A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for discussion with Norfolk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i="1" dirty="0">
                <a:solidFill>
                  <a:srgbClr val="8A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Chambers of Commerce leadership and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i="1" dirty="0">
                <a:solidFill>
                  <a:srgbClr val="8A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governance stakeholders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914400" y="44348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8A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by Patrick Hussey, Founder @GoodTransformer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B865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3A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matters now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86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chatbot to agent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2A3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shifting from answering questions to carrying out work. Agents connected to email, CRMs, databases and internal systems are already starting to act in the business world.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86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agentic economy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2A3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changes more than productivity software. It changes cost structures, staffing assumptions, competitive pressure, and the speed at which firms can adapt.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212080" y="1051560"/>
            <a:ext cx="3474720" cy="3291840"/>
          </a:xfrm>
          <a:prstGeom prst="rect">
            <a:avLst/>
          </a:prstGeom>
          <a:solidFill>
            <a:srgbClr val="0F2D2D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212080" y="1051560"/>
            <a:ext cx="3474720" cy="45720"/>
          </a:xfrm>
          <a:prstGeom prst="rect">
            <a:avLst/>
          </a:prstGeom>
          <a:solidFill>
            <a:srgbClr val="B865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417320"/>
            <a:ext cx="457200" cy="4572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486400" y="2057400"/>
            <a:ext cx="29260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45000"/>
              </a:lnSpc>
              <a:buNone/>
            </a:pPr>
            <a:r>
              <a:rPr lang="en-US" sz="1300" dirty="0">
                <a:solidFill>
                  <a:srgbClr val="C8D4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are being offered their own email accounts, credit cards and wikis — enabling multi-step, multi-domain work with limited human oversight.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0" y="36576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491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 advice → AI as execution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2D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B865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catalyst: OpenClaw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1188720"/>
            <a:ext cx="2377440" cy="2560320"/>
          </a:xfrm>
          <a:prstGeom prst="rect">
            <a:avLst/>
          </a:prstGeom>
          <a:solidFill>
            <a:srgbClr val="1A3B3B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85800" y="1188720"/>
            <a:ext cx="2377440" cy="45720"/>
          </a:xfrm>
          <a:prstGeom prst="rect">
            <a:avLst/>
          </a:prstGeom>
          <a:solidFill>
            <a:srgbClr val="B865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155448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D491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250K+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868680" y="21945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stars in</a:t>
            </a:r>
            <a:endParaRPr lang="en-US" sz="13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4 months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" y="28803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8A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open-source adoption in software history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83280" y="1188720"/>
            <a:ext cx="2377440" cy="2560320"/>
          </a:xfrm>
          <a:prstGeom prst="rect">
            <a:avLst/>
          </a:prstGeom>
          <a:solidFill>
            <a:srgbClr val="1A3B3B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383280" y="1188720"/>
            <a:ext cx="2377440" cy="45720"/>
          </a:xfrm>
          <a:prstGeom prst="rect">
            <a:avLst/>
          </a:prstGeom>
          <a:solidFill>
            <a:srgbClr val="B865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383280" y="155448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D491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2M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566160" y="21945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visitors in</a:t>
            </a:r>
            <a:endParaRPr lang="en-US" sz="13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week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66160" y="28803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8A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 grassroots developer interest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80760" y="1188720"/>
            <a:ext cx="2377440" cy="2560320"/>
          </a:xfrm>
          <a:prstGeom prst="rect">
            <a:avLst/>
          </a:prstGeom>
          <a:solidFill>
            <a:srgbClr val="1A3B3B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080760" y="1188720"/>
            <a:ext cx="2377440" cy="45720"/>
          </a:xfrm>
          <a:prstGeom prst="rect">
            <a:avLst/>
          </a:prstGeom>
          <a:solidFill>
            <a:srgbClr val="B865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080760" y="155448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D491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9,000+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6263640" y="21945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skills on</a:t>
            </a:r>
            <a:endParaRPr lang="en-US" sz="13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ClawHub marketplace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63640" y="28803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8A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growing at extraordinary speed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411480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8A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OpenClaw is an AI 'harness' that lets models use tools and act across software — turning AI agents from demos into deployable systems.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B865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3A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Norfolk should pay attention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097280"/>
            <a:ext cx="3200400" cy="3474720"/>
          </a:xfrm>
          <a:prstGeom prst="rect">
            <a:avLst/>
          </a:prstGeom>
          <a:solidFill>
            <a:srgbClr val="0F2D2D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D491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370K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jobs in Norfolk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9260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D491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34.8%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640080" y="34747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8A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part-time share</a:t>
            </a:r>
            <a:endParaRPr lang="en-US" sz="12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8A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(vs 30.8% GB average)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97680" y="10972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86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sectors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297680" y="1645920"/>
            <a:ext cx="4206240" cy="685800"/>
          </a:xfrm>
          <a:prstGeom prst="rect">
            <a:avLst/>
          </a:prstGeom>
          <a:solidFill>
            <a:srgbClr val="EDE6D6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297680" y="1645920"/>
            <a:ext cx="64008" cy="685800"/>
          </a:xfrm>
          <a:prstGeom prst="rect">
            <a:avLst/>
          </a:prstGeom>
          <a:solidFill>
            <a:srgbClr val="B865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0" y="171907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3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&amp; social work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0" y="2011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60,000 jobs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97680" y="2514600"/>
            <a:ext cx="4206240" cy="685800"/>
          </a:xfrm>
          <a:prstGeom prst="rect">
            <a:avLst/>
          </a:prstGeom>
          <a:solidFill>
            <a:srgbClr val="EDE6D6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297680" y="2514600"/>
            <a:ext cx="64008" cy="685800"/>
          </a:xfrm>
          <a:prstGeom prst="rect">
            <a:avLst/>
          </a:prstGeom>
          <a:solidFill>
            <a:srgbClr val="B865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0" y="25877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3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Wholesale &amp; retail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880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60,000 jobs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297680" y="3383280"/>
            <a:ext cx="4206240" cy="685800"/>
          </a:xfrm>
          <a:prstGeom prst="rect">
            <a:avLst/>
          </a:prstGeom>
          <a:solidFill>
            <a:srgbClr val="EDE6D6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297680" y="3383280"/>
            <a:ext cx="64008" cy="685800"/>
          </a:xfrm>
          <a:prstGeom prst="rect">
            <a:avLst/>
          </a:prstGeom>
          <a:solidFill>
            <a:srgbClr val="B865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572000" y="34564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3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&amp; food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0" y="37490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34,000 jobs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297680" y="42519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A3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rich in scheduling, documentation, customer handling and routine coordination — exactly the work agentic AI is starting to compress.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B865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A3A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an AI Impact Board could do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3840480" cy="1005840"/>
          </a:xfrm>
          <a:prstGeom prst="rect">
            <a:avLst/>
          </a:prstGeom>
          <a:solidFill>
            <a:srgbClr val="EDE6D6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280160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16128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3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sector impact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417320" y="150876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A3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agentic AI effects on Norfolk's major employers and industries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846320" y="1051560"/>
            <a:ext cx="3840480" cy="1005840"/>
          </a:xfrm>
          <a:prstGeom prst="rect">
            <a:avLst/>
          </a:prstGeom>
          <a:solidFill>
            <a:srgbClr val="EDE6D6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280160"/>
            <a:ext cx="411480" cy="4114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623560" y="116128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3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opportunities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5623560" y="150876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A3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early use cases to raise local productivity and competitiveness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640080" y="2286000"/>
            <a:ext cx="3840480" cy="1005840"/>
          </a:xfrm>
          <a:prstGeom prst="rect">
            <a:avLst/>
          </a:prstGeom>
          <a:solidFill>
            <a:srgbClr val="EDE6D6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2514600"/>
            <a:ext cx="411480" cy="4114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17320" y="239572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3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workforce implications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417320" y="274320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A3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skills, education and employment effects across the county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4846320" y="2286000"/>
            <a:ext cx="3840480" cy="1005840"/>
          </a:xfrm>
          <a:prstGeom prst="rect">
            <a:avLst/>
          </a:prstGeom>
          <a:solidFill>
            <a:srgbClr val="EDE6D6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0" y="2514600"/>
            <a:ext cx="411480" cy="4114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623560" y="239572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3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Advise on governance &amp; security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5623560" y="274320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A3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responsible adoption and manage emerging cyber risks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640080" y="3520440"/>
            <a:ext cx="3840480" cy="1005840"/>
          </a:xfrm>
          <a:prstGeom prst="rect">
            <a:avLst/>
          </a:prstGeom>
          <a:solidFill>
            <a:srgbClr val="EDE6D6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" y="3749040"/>
            <a:ext cx="411480" cy="41148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417320" y="36301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3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shared Norfolk view</a:t>
            </a:r>
            <a:endParaRPr lang="en-US" sz="1400" dirty="0"/>
          </a:p>
        </p:txBody>
      </p:sp>
      <p:sp>
        <p:nvSpPr>
          <p:cNvPr id="23" name="Text 16"/>
          <p:cNvSpPr/>
          <p:nvPr/>
        </p:nvSpPr>
        <p:spPr>
          <a:xfrm>
            <a:off x="1417320" y="39776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A3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where support, experimentation or intervention is needed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D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B865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bottom 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7863840" cy="2194560"/>
          </a:xfrm>
          <a:prstGeom prst="rect">
            <a:avLst/>
          </a:prstGeom>
          <a:solidFill>
            <a:srgbClr val="1A3B3B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64008" cy="2194560"/>
          </a:xfrm>
          <a:prstGeom prst="rect">
            <a:avLst/>
          </a:prstGeom>
          <a:solidFill>
            <a:srgbClr val="B865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737360"/>
            <a:ext cx="7223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question is no longer whether AI will affect Norfolk.</a:t>
            </a:r>
            <a:endParaRPr lang="en-US" sz="1700" dirty="0"/>
          </a:p>
          <a:p>
            <a:pPr marL="0" indent="0">
              <a:lnSpc>
                <a:spcPct val="145000"/>
              </a:lnSpc>
              <a:buNone/>
            </a:pPr>
            <a:endParaRPr lang="en-US" sz="17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is whether Norfolk wants to face the next phase passively — or with a serious mechanism for understanding and shaping it.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40233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491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Impact Board would be a modest step, but a timely one.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388</Words>
  <Application>Microsoft Macintosh PowerPoint</Application>
  <PresentationFormat>On-screen Show (16:9)</PresentationFormat>
  <Paragraphs>65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Case for an AI Impact Board for Norfolk</dc:title>
  <dc:subject>PptxGenJS Presentation</dc:subject>
  <dc:creator>Norfolk AI Impact Board</dc:creator>
  <cp:lastModifiedBy>Patrick Hussey</cp:lastModifiedBy>
  <cp:revision>2</cp:revision>
  <dcterms:created xsi:type="dcterms:W3CDTF">2026-04-09T20:04:22Z</dcterms:created>
  <dcterms:modified xsi:type="dcterms:W3CDTF">2026-04-09T20:08:06Z</dcterms:modified>
</cp:coreProperties>
</file>